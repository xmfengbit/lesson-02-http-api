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46ddf8e00e48ab" /><Relationship Type="http://schemas.openxmlformats.org/officeDocument/2006/relationships/extended-properties" Target="/docProps/app.xml" Id="R17ba108e81da4c0c" /><Relationship Type="http://schemas.openxmlformats.org/officeDocument/2006/relationships/officeDocument" Target="/ppt/presentation.xml" Id="R566196d45ec4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fbb0d4b054335"/>
  </p:sldMasterIdLst>
  <p:notesMasterIdLst>
    <p:notesMasterId xmlns:r="http://schemas.openxmlformats.org/officeDocument/2006/relationships" r:id="R669d644d5d574c1e"/>
  </p:notesMasterIdLst>
  <p:sldIdLst>
    <p:sldId xmlns:r="http://schemas.openxmlformats.org/officeDocument/2006/relationships" id="256" r:id="R5dc4e2eab6bd477f"/>
    <p:sldId xmlns:r="http://schemas.openxmlformats.org/officeDocument/2006/relationships" id="257" r:id="R5c30c976ef9a46a5"/>
    <p:sldId xmlns:r="http://schemas.openxmlformats.org/officeDocument/2006/relationships" id="258" r:id="Rc86e18c0ed3d44d7"/>
    <p:sldId xmlns:r="http://schemas.openxmlformats.org/officeDocument/2006/relationships" id="259" r:id="R9e6dd1d137fc4ee3"/>
    <p:sldId xmlns:r="http://schemas.openxmlformats.org/officeDocument/2006/relationships" id="260" r:id="R65f2de1122414764"/>
    <p:sldId xmlns:r="http://schemas.openxmlformats.org/officeDocument/2006/relationships" id="261" r:id="Rae2452b5b4db4ec7"/>
    <p:sldId xmlns:r="http://schemas.openxmlformats.org/officeDocument/2006/relationships" id="262" r:id="R3d3294e5187f4200"/>
    <p:sldId xmlns:r="http://schemas.openxmlformats.org/officeDocument/2006/relationships" id="263" r:id="Rbb9f5c1e8a0440fa"/>
    <p:sldId xmlns:r="http://schemas.openxmlformats.org/officeDocument/2006/relationships" id="264" r:id="R95e7c618943541f9"/>
    <p:sldId xmlns:r="http://schemas.openxmlformats.org/officeDocument/2006/relationships" id="265" r:id="Re4d783f39d6343db"/>
    <p:sldId xmlns:r="http://schemas.openxmlformats.org/officeDocument/2006/relationships" id="266" r:id="R27002c79856e404d"/>
    <p:sldId xmlns:r="http://schemas.openxmlformats.org/officeDocument/2006/relationships" id="267" r:id="R1fd9c64a06c84787"/>
    <p:sldId xmlns:r="http://schemas.openxmlformats.org/officeDocument/2006/relationships" id="268" r:id="R8d9d42810fd54fbd"/>
    <p:sldId xmlns:r="http://schemas.openxmlformats.org/officeDocument/2006/relationships" id="269" r:id="Re5603a4845ed4d95"/>
    <p:sldId xmlns:r="http://schemas.openxmlformats.org/officeDocument/2006/relationships" id="270" r:id="R682fc4450d684326"/>
    <p:sldId xmlns:r="http://schemas.openxmlformats.org/officeDocument/2006/relationships" id="271" r:id="R71829552c5474670"/>
    <p:sldId xmlns:r="http://schemas.openxmlformats.org/officeDocument/2006/relationships" id="272" r:id="Rcd13a2a8db844c05"/>
    <p:sldId xmlns:r="http://schemas.openxmlformats.org/officeDocument/2006/relationships" id="273" r:id="R4d761d4c84874cf2"/>
    <p:sldId xmlns:r="http://schemas.openxmlformats.org/officeDocument/2006/relationships" id="274" r:id="Rc5254525a9fc4bf8"/>
    <p:sldId xmlns:r="http://schemas.openxmlformats.org/officeDocument/2006/relationships" id="275" r:id="Rfb3ab61a0f874949"/>
    <p:sldId xmlns:r="http://schemas.openxmlformats.org/officeDocument/2006/relationships" id="276" r:id="Red7097259fe04a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fe95853584efe" /><Relationship Type="http://schemas.openxmlformats.org/officeDocument/2006/relationships/slideMaster" Target="/ppt/slideMasters/slideMaster1.xml" Id="Re6dfbb0d4b054335" /><Relationship Type="http://schemas.openxmlformats.org/officeDocument/2006/relationships/notesMaster" Target="/ppt/notesMasters/notesMaster1.xml" Id="R669d644d5d574c1e" /><Relationship Type="http://schemas.openxmlformats.org/officeDocument/2006/relationships/presProps" Target="/ppt/presProps.xml" Id="R7a3c440569d94280" /><Relationship Type="http://schemas.openxmlformats.org/officeDocument/2006/relationships/tableStyles" Target="/ppt/tableStyles.xml" Id="R48510a5e03604e00" /><Relationship Type="http://schemas.openxmlformats.org/officeDocument/2006/relationships/slide" Target="/ppt/slides/slide1.xml" Id="R5dc4e2eab6bd477f" /><Relationship Type="http://schemas.openxmlformats.org/officeDocument/2006/relationships/slide" Target="/ppt/slides/slide2.xml" Id="R5c30c976ef9a46a5" /><Relationship Type="http://schemas.openxmlformats.org/officeDocument/2006/relationships/slide" Target="/ppt/slides/slide3.xml" Id="Rc86e18c0ed3d44d7" /><Relationship Type="http://schemas.openxmlformats.org/officeDocument/2006/relationships/slide" Target="/ppt/slides/slide4.xml" Id="R9e6dd1d137fc4ee3" /><Relationship Type="http://schemas.openxmlformats.org/officeDocument/2006/relationships/slide" Target="/ppt/slides/slide5.xml" Id="R65f2de1122414764" /><Relationship Type="http://schemas.openxmlformats.org/officeDocument/2006/relationships/slide" Target="/ppt/slides/slide6.xml" Id="Rae2452b5b4db4ec7" /><Relationship Type="http://schemas.openxmlformats.org/officeDocument/2006/relationships/slide" Target="/ppt/slides/slide7.xml" Id="R3d3294e5187f4200" /><Relationship Type="http://schemas.openxmlformats.org/officeDocument/2006/relationships/slide" Target="/ppt/slides/slide8.xml" Id="Rbb9f5c1e8a0440fa" /><Relationship Type="http://schemas.openxmlformats.org/officeDocument/2006/relationships/slide" Target="/ppt/slides/slide9.xml" Id="R95e7c618943541f9" /><Relationship Type="http://schemas.openxmlformats.org/officeDocument/2006/relationships/slide" Target="/ppt/slides/slide10.xml" Id="Re4d783f39d6343db" /><Relationship Type="http://schemas.openxmlformats.org/officeDocument/2006/relationships/slide" Target="/ppt/slides/slide11.xml" Id="R27002c79856e404d" /><Relationship Type="http://schemas.openxmlformats.org/officeDocument/2006/relationships/slide" Target="/ppt/slides/slide12.xml" Id="R1fd9c64a06c84787" /><Relationship Type="http://schemas.openxmlformats.org/officeDocument/2006/relationships/slide" Target="/ppt/slides/slide13.xml" Id="R8d9d42810fd54fbd" /><Relationship Type="http://schemas.openxmlformats.org/officeDocument/2006/relationships/slide" Target="/ppt/slides/slide14.xml" Id="Re5603a4845ed4d95" /><Relationship Type="http://schemas.openxmlformats.org/officeDocument/2006/relationships/slide" Target="/ppt/slides/slide15.xml" Id="R682fc4450d684326" /><Relationship Type="http://schemas.openxmlformats.org/officeDocument/2006/relationships/slide" Target="/ppt/slides/slide16.xml" Id="R71829552c5474670" /><Relationship Type="http://schemas.openxmlformats.org/officeDocument/2006/relationships/slide" Target="/ppt/slides/slide17.xml" Id="Rcd13a2a8db844c05" /><Relationship Type="http://schemas.openxmlformats.org/officeDocument/2006/relationships/slide" Target="/ppt/slides/slide18.xml" Id="R4d761d4c84874cf2" /><Relationship Type="http://schemas.openxmlformats.org/officeDocument/2006/relationships/slide" Target="/ppt/slides/slide19.xml" Id="Rc5254525a9fc4bf8" /><Relationship Type="http://schemas.openxmlformats.org/officeDocument/2006/relationships/slide" Target="/ppt/slides/slide20.xml" Id="Rfb3ab61a0f874949" /><Relationship Type="http://schemas.openxmlformats.org/officeDocument/2006/relationships/slide" Target="/ppt/slides/slide21.xml" Id="Red7097259fe0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9a5703e0b1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9e3b92c4814794" /><Relationship Type="http://schemas.openxmlformats.org/officeDocument/2006/relationships/notesMaster" Target="/ppt/notesMasters/notesMaster1.xml" Id="Rb094371e04b3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037fff9b8d484e" /><Relationship Type="http://schemas.openxmlformats.org/officeDocument/2006/relationships/notesMaster" Target="/ppt/notesMasters/notesMaster1.xml" Id="R4e843a1b3af745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dc2d7357a461d" /><Relationship Type="http://schemas.openxmlformats.org/officeDocument/2006/relationships/notesMaster" Target="/ppt/notesMasters/notesMaster1.xml" Id="R17a398852e474f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3f06fa8fc146c9" /><Relationship Type="http://schemas.openxmlformats.org/officeDocument/2006/relationships/notesMaster" Target="/ppt/notesMasters/notesMaster1.xml" Id="Rf2fe17b17a2c4b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6fb82a369143a2" /><Relationship Type="http://schemas.openxmlformats.org/officeDocument/2006/relationships/notesMaster" Target="/ppt/notesMasters/notesMaster1.xml" Id="R8e57335a6e0449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4cc838a81d4147" /><Relationship Type="http://schemas.openxmlformats.org/officeDocument/2006/relationships/notesMaster" Target="/ppt/notesMasters/notesMaster1.xml" Id="R5ef1a9fe1c6b4e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5e7a36027d4a13" /><Relationship Type="http://schemas.openxmlformats.org/officeDocument/2006/relationships/notesMaster" Target="/ppt/notesMasters/notesMaster1.xml" Id="Ref8629ade2794e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21528a94814e4f" /><Relationship Type="http://schemas.openxmlformats.org/officeDocument/2006/relationships/notesMaster" Target="/ppt/notesMasters/notesMaster1.xml" Id="Raa479a4211cd4a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051a36f4a048ea" /><Relationship Type="http://schemas.openxmlformats.org/officeDocument/2006/relationships/notesMaster" Target="/ppt/notesMasters/notesMaster1.xml" Id="Rc5572659e17b4a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01a18646b42ca" /><Relationship Type="http://schemas.openxmlformats.org/officeDocument/2006/relationships/notesMaster" Target="/ppt/notesMasters/notesMaster1.xml" Id="Rb62d63fa5c3c4d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807c18f26545f8" /><Relationship Type="http://schemas.openxmlformats.org/officeDocument/2006/relationships/notesMaster" Target="/ppt/notesMasters/notesMaster1.xml" Id="Rf1ced9b689c149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d6417d8f1d42b7" /><Relationship Type="http://schemas.openxmlformats.org/officeDocument/2006/relationships/notesMaster" Target="/ppt/notesMasters/notesMaster1.xml" Id="R67119f6bb35c48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7328117e73415e" /><Relationship Type="http://schemas.openxmlformats.org/officeDocument/2006/relationships/notesMaster" Target="/ppt/notesMasters/notesMaster1.xml" Id="R989bb59f3b0446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b8b7f1fead4654" /><Relationship Type="http://schemas.openxmlformats.org/officeDocument/2006/relationships/notesMaster" Target="/ppt/notesMasters/notesMaster1.xml" Id="R971587aa80a241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a8a6d47b054d25" /><Relationship Type="http://schemas.openxmlformats.org/officeDocument/2006/relationships/notesMaster" Target="/ppt/notesMasters/notesMaster1.xml" Id="R7595c824c8fa4d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01939222894dfe" /><Relationship Type="http://schemas.openxmlformats.org/officeDocument/2006/relationships/notesMaster" Target="/ppt/notesMasters/notesMaster1.xml" Id="R5f58e4e5728a42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09f6ede7114707" /><Relationship Type="http://schemas.openxmlformats.org/officeDocument/2006/relationships/notesMaster" Target="/ppt/notesMasters/notesMaster1.xml" Id="R2916f831fcc849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265d6fd8334ba8" /><Relationship Type="http://schemas.openxmlformats.org/officeDocument/2006/relationships/notesMaster" Target="/ppt/notesMasters/notesMaster1.xml" Id="R04e95882d8dd49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8569e291b8493f" /><Relationship Type="http://schemas.openxmlformats.org/officeDocument/2006/relationships/notesMaster" Target="/ppt/notesMasters/notesMaster1.xml" Id="Re2b8307d2cc84a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4c77a9e3174ea6" /><Relationship Type="http://schemas.openxmlformats.org/officeDocument/2006/relationships/notesMaster" Target="/ppt/notesMasters/notesMaster1.xml" Id="R0392bdb9ee5f40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165fc19cec478e" /><Relationship Type="http://schemas.openxmlformats.org/officeDocument/2006/relationships/notesMaster" Target="/ppt/notesMasters/notesMaster1.xml" Id="Rc5c96b9fbfae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第二课。第一课搭好 Agent 骨架，这一课解决「AI 是怎么被调用的」。你调过 DeepSeek，这课把黑盒打开。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三个目标。第 3 条：亲手裸调 DeepSeek，不用 SDK。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寄信比喻：请求=寄出的信，响应=回信。先有整体画面。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第一个请求。先看整体：requests.get → response。后面逐个拆。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请求四要素。第四行请求体标了「POST 才有」。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裸调 DeepSeek：headers + json。这就是 SDK 背后做的事，作业要亲手写一遍。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 取数据、POST 提交。调 AI 是 POST。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个状态码。429 的处理后面工程化课深入。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状态码实战：不是只认识 200，还要分情况处理错误。这是工程化思维。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= 双方约定的文本格式。json= 自动序列化/反序列化。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建立连接：爬虫 GET vs AI POST。SDK 底层就是 requests.post。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两个终端：一个开服务器，一个跑演示。server.py 就是 FastAPI。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 完整例子：params 拼 URL，json() 拿数据。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例子：json 参数。发给服务器的就是这个结构。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三个高频题。429 的处理是工程化预演。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作业 3 件。第 2 件是核心：裸调 DeepSeek。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预告第三课：异步。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18f4dacb344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94294581b54533" /><Relationship Type="http://schemas.openxmlformats.org/officeDocument/2006/relationships/slideLayout" Target="/ppt/slideLayouts/slideLayout1.xml" Id="R706244b7c1d3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244b7c1d3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e7a9504024c7e" /><Relationship Type="http://schemas.openxmlformats.org/officeDocument/2006/relationships/notesSlide" Target="/ppt/notesSlides/notesSlide1.xml" Id="Rd7f66ed2d8cc4a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d798e3f744a50" /><Relationship Type="http://schemas.openxmlformats.org/officeDocument/2006/relationships/notesSlide" Target="/ppt/notesSlides/notesSlide2.xml" Id="R154cd3859127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9e764993a47d2" /><Relationship Type="http://schemas.openxmlformats.org/officeDocument/2006/relationships/notesSlide" Target="/ppt/notesSlides/notesSlide3.xml" Id="R1927d9e73bbe4b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76c6d292e434c" /><Relationship Type="http://schemas.openxmlformats.org/officeDocument/2006/relationships/notesSlide" Target="/ppt/notesSlides/notesSlide4.xml" Id="R481049bb9c57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1a12cd305460f" /><Relationship Type="http://schemas.openxmlformats.org/officeDocument/2006/relationships/notesSlide" Target="/ppt/notesSlides/notesSlide5.xml" Id="R32fedb7d2b9847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e697edc324e25" /><Relationship Type="http://schemas.openxmlformats.org/officeDocument/2006/relationships/notesSlide" Target="/ppt/notesSlides/notesSlide6.xml" Id="Ra528e32c5b7f41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e5b5c0844960" /><Relationship Type="http://schemas.openxmlformats.org/officeDocument/2006/relationships/notesSlide" Target="/ppt/notesSlides/notesSlide7.xml" Id="R275d872b15d44d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391328c3f4da8" /><Relationship Type="http://schemas.openxmlformats.org/officeDocument/2006/relationships/notesSlide" Target="/ppt/notesSlides/notesSlide8.xml" Id="R9277d457b4ba41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071bb25b44248" /><Relationship Type="http://schemas.openxmlformats.org/officeDocument/2006/relationships/notesSlide" Target="/ppt/notesSlides/notesSlide9.xml" Id="R9fef1ea0f0e445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2fac0ec99461a" /><Relationship Type="http://schemas.openxmlformats.org/officeDocument/2006/relationships/notesSlide" Target="/ppt/notesSlides/notesSlide10.xml" Id="R5706b15a8a8d4c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a50a1236e4d0d" /><Relationship Type="http://schemas.openxmlformats.org/officeDocument/2006/relationships/notesSlide" Target="/ppt/notesSlides/notesSlide11.xml" Id="R2e13431937c44c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fe6109d904bc9" /><Relationship Type="http://schemas.openxmlformats.org/officeDocument/2006/relationships/notesSlide" Target="/ppt/notesSlides/notesSlide12.xml" Id="R390cb2d0c27548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12b9e471245a2" /><Relationship Type="http://schemas.openxmlformats.org/officeDocument/2006/relationships/notesSlide" Target="/ppt/notesSlides/notesSlide13.xml" Id="R24991d2396a149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a980078944621" /><Relationship Type="http://schemas.openxmlformats.org/officeDocument/2006/relationships/notesSlide" Target="/ppt/notesSlides/notesSlide14.xml" Id="Rac29d8db3c0643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6a3dedc704b89" /><Relationship Type="http://schemas.openxmlformats.org/officeDocument/2006/relationships/notesSlide" Target="/ppt/notesSlides/notesSlide15.xml" Id="R75286314762e41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c8402dae948c1" /><Relationship Type="http://schemas.openxmlformats.org/officeDocument/2006/relationships/notesSlide" Target="/ppt/notesSlides/notesSlide16.xml" Id="R9940689aa52545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4a95c88194530" /><Relationship Type="http://schemas.openxmlformats.org/officeDocument/2006/relationships/notesSlide" Target="/ppt/notesSlides/notesSlide17.xml" Id="R68bd66e1be4249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22b0045504a24" /><Relationship Type="http://schemas.openxmlformats.org/officeDocument/2006/relationships/notesSlide" Target="/ppt/notesSlides/notesSlide18.xml" Id="Re98407a12dbb45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00efe945a4583" /><Relationship Type="http://schemas.openxmlformats.org/officeDocument/2006/relationships/notesSlide" Target="/ppt/notesSlides/notesSlide19.xml" Id="R134bd94c028143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9de770e884446" /><Relationship Type="http://schemas.openxmlformats.org/officeDocument/2006/relationships/notesSlide" Target="/ppt/notesSlides/notesSlide20.xml" Id="R4d925634f1d94f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e0c4eca03425a" /><Relationship Type="http://schemas.openxmlformats.org/officeDocument/2006/relationships/notesSlide" Target="/ppt/notesSlides/notesSlide21.xml" Id="R2fec6396a9c64d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F5A0A-1F8D-4FE3-AAE6-C814F8D4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96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</a:defRPr>
            </a:pPr>
            <a:r>
              <a:rPr sz="1050" b="1">
                <a:solidFill>
                  <a:srgbClr val="5F6B7A"/>
                </a:solidFill>
              </a:rPr>
              <a:t>AI AGENT 秋招冲刺 · 基础篇   Lesson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27414-E2FF-40A4-A4D4-22849450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第二课 · HTTP 与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7CF22-5EE3-48E2-8CE3-DF8CD9E6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defRPr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从「会用」变成「懂」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一次 HTTP 请求的完整解剖——这是后面所有 Agent 课程的地基。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88026-C911-455F-BAD2-39785936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47750"/>
            <a:ext cx="5334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30507-D8CD-46BC-9570-9075ACB0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40"/>
              </a:spcAft>
              <a:buNone/>
              <a:defRPr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HTTP</a:t>
            </a:r>
          </a:p>
          <a:p xmlns:a="http://schemas.openxmlformats.org/drawingml/2006/main">
            <a:pPr algn="l">
              <a:spcAft>
                <a:spcPts val="24"/>
              </a:spcAft>
              <a:buNone/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客户端 ⇄ 服务器</a:t>
            </a:r>
          </a:p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GET  /  POST  / 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677D4-8FA4-4E76-BBD2-F470C266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B7A"/>
                </a:solidFill>
              </a:defRPr>
            </a:pPr>
            <a:r>
              <a:rPr sz="975">
                <a:solidFill>
                  <a:srgbClr val="5F6B7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0445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E4163-C2E6-4EE9-9A3E-86760A48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1404568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1C65C-EA73-4468-98E3-69B0AF2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RECAP · 上节课回顾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38E25-6970-4021-A68F-3EDCBEAA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第一课：Agent = 决策 + 执行 + 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5D0B0-9EF5-4D54-865E-FF18201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B7A"/>
                </a:solidFill>
              </a:defRPr>
            </a:pPr>
            <a:r>
              <a:rPr sz="1650">
                <a:solidFill>
                  <a:srgbClr val="5F6B7A"/>
                </a:solidFill>
              </a:rPr>
              <a:t>决策者（大脑）→ 执行者（手）→ 循环串起来。第二课要学：AI 这个「大脑」是通过什么方式被我们调用的？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4169B-D2F9-477D-B303-2ED9C80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B7A"/>
                </a:solidFill>
              </a:defRPr>
            </a:pPr>
            <a:r>
              <a:rPr sz="975">
                <a:solidFill>
                  <a:srgbClr val="5F6B7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8458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44678-CC41-4C8B-AA17-15DD6B3D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这节课，你要带走 3 样东西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4FC81-54F9-49EC-A325-49C7DC42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93668" y="1809750"/>
          <a:ext xmlns:a="http://schemas.openxmlformats.org/drawingml/2006/main" cx="11404664" cy="3238500"/>
        </p:xfrm>
        <a:graphic xmlns:a="http://schemas.openxmlformats.org/drawingml/2006/main">
          <a:graphicData uri="http://schemas.openxmlformats.org/drawingml/2006/table">
            <a:tbl>
              <a:tblPr firstRow="0" bandRow="1"/>
              <a:tblGrid>
                <a:gridCol w="1333500"/>
                <a:gridCol w="10071164"/>
              </a:tblGrid>
              <a:tr h="809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学完你会……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看懂一次 HTTP 请求：URL、方法、请求头、请求体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分清 GET 和 POST，认识状态码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亲手用 requests 调一次真实的 AI 接口（DeepSeek）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2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0AF7A-527B-4011-8892-9155CE5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先懂一件事：HTTP 就是寄信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A5ED8-13A0-4474-8CC2-61DDFBD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6F713-3473-443B-8F40-87D80BA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AE65E-6A66-41D0-9970-947AA415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defRPr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客户端（你）</a:t>
            </a:r>
          </a:p>
          <a:p xmlns:a="http://schemas.openxmlformats.org/drawingml/2006/main">
            <a:pPr algn="l">
              <a:spcAft>
                <a:spcPts val="1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① 寄出请求 Request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例：向 DeepSeek 提问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A09B5-1236-4B5A-A4BC-7D0A439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123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spcAft>
                <a:spcPts val="14"/>
              </a:spcAft>
              <a:buNone/>
              <a:defRPr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① 请求 →</a:t>
            </a:r>
          </a:p>
          <a:p xmlns:a="http://schemas.openxmlformats.org/drawingml/2006/main">
            <a:pPr algn="ctr">
              <a:buNone/>
              <a:defRPr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← ③ 响应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35A3A-14D3-4350-AAB5-E03F276B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02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4FDB6-F2FB-4D7D-A7FB-AA1A340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4381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defRPr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服务器（AI）</a:t>
            </a:r>
          </a:p>
          <a:p xmlns:a="http://schemas.openxmlformats.org/drawingml/2006/main">
            <a:pPr algn="l">
              <a:spcAft>
                <a:spcPts val="1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② 收到请求，处理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例：DeepSeek 生成回答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33884-6B46-4774-BDA2-489029DB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43500"/>
            <a:ext cx="11404568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CF744-7F77-4E01-BF21-572534EA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③ 服务器把结果寄回（响应 Response）→ 你拿到 AI 的回答</a:t>
            </a:r>
          </a:p>
        </p:txBody>
      </p:sp>
    </p:spTree>
    <p:extLst>
      <p:ext uri="{BB962C8B-B14F-4D97-AF65-F5344CB8AC3E}">
        <p14:creationId xmlns:p14="http://schemas.microsoft.com/office/powerpoint/2010/main" val="1292237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BEC0B-41BF-49AC-B277-FD318236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第一次亲手发请求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5D62C-24E4-4415-822C-638F419B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E9E25-4814-4A15-9DB8-0703EE96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1404568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C0EC4-49A0-44F8-B416-804F7F39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1828800"/>
            <a:ext cx="10871168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import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response = requests.get(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"https://httpbin.org/get",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params={"city": "深圳"},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print(response.status_code)   # 200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print(response.json())        # 服务器原样返回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E6761-97E0-408D-988C-C817335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48250"/>
            <a:ext cx="11404568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requests.get = 发一封信（请求）</a:t>
            </a:r>
          </a:p>
          <a:p xmlns:a="http://schemas.openxmlformats.org/drawingml/2006/main">
            <a:pPr algn="l">
              <a:spcAft>
                <a:spcPts val="16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response = 服务器的回信，.status_code 看状态，.json() 拿内容</a:t>
            </a:r>
          </a:p>
        </p:txBody>
      </p:sp>
    </p:spTree>
    <p:extLst>
      <p:ext uri="{BB962C8B-B14F-4D97-AF65-F5344CB8AC3E}">
        <p14:creationId xmlns:p14="http://schemas.microsoft.com/office/powerpoint/2010/main" val="21086746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5DF7F-CCF0-4002-AA11-1E84BE20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一封信（请求）有 4 个部分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8A83A-D0A4-4BCD-9527-7EF7643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C36D9-F1A3-45A8-8BC2-6BEF5E69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312EC-CD56-46FB-AB35-0C4005A9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72543-034F-4563-B778-E746AC3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https://api.deepseek.com/chat/completions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03A8-DD93-41B1-B22A-8CA88561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43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寄给谁（地址）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EF8E7-5A88-4D40-B737-AD97E586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146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8935-B076-4FFD-85E8-C970114D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82E3C-0D8C-464E-B35F-6E1F4C2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GET  /  POST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EB178-A048-444C-8D2B-590BDDB3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要干什么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D660B-FD23-4C07-BF29-3E1A145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95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27ED3-988C-4F94-A6B0-E27ACEA5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95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请求头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584E6-CEF6-45FA-A777-C655019F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Authorization: Bearer 你的Key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7DB8B-A6B5-4707-8974-35BC938B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身份证明（签名）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99C27-A153-4F2D-8E11-AC53B98D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244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5F90B-A6D5-4F87-9B8E-9FB1639A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244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请求体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9CEE9-D16F-4B45-8E9A-664C5503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{ "model": "deepseek-v4-pro", ...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812E8-1477-4115-99C7-D01BDB20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57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信的内容（POST 才有）</a:t>
            </a:r>
          </a:p>
        </p:txBody>
      </p:sp>
    </p:spTree>
    <p:extLst>
      <p:ext uri="{BB962C8B-B14F-4D97-AF65-F5344CB8AC3E}">
        <p14:creationId xmlns:p14="http://schemas.microsoft.com/office/powerpoint/2010/main" val="2062913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5F06E-CE33-46B1-934B-3A8ADCBA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POST：这才是调 AI 的方式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EB11C-9E0A-4934-9989-B105C6ED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56A17-EA13-4129-BACC-F51F2B8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1404568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8A24F-99BB-4E64-B0D9-B5D79A0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1828800"/>
            <a:ext cx="10871168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response = requests.post(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"https://api.deepseek.com/chat/completions",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headers={"Authorization": f"Bearer {key}",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         "Content-Type": "application/json"},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json={"model": "deepseek-v4-pro",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      "messages": [{"role": "user",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                      "content": "你好"}]},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print(response.json()["choices"][0]["message"]["content"])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053BA-7DB1-41EB-B15E-CF12A5B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1140456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请求头放 Key（身份证明），请求体放问题（JSON）</a:t>
            </a:r>
          </a:p>
          <a:p xmlns:a="http://schemas.openxmlformats.org/drawingml/2006/main">
            <a:pPr algn="l">
              <a:spcAft>
                <a:spcPts val="16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SDK 就是把这 8 行藏起来的封装</a:t>
            </a:r>
          </a:p>
        </p:txBody>
      </p:sp>
    </p:spTree>
    <p:extLst>
      <p:ext uri="{BB962C8B-B14F-4D97-AF65-F5344CB8AC3E}">
        <p14:creationId xmlns:p14="http://schemas.microsoft.com/office/powerpoint/2010/main" val="835380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C1BD4-6E1C-4FC0-80F8-9F661F16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方法：GET 和 POST（面试必问）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5B601-34A4-4332-987B-D89F266F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93668" y="1809750"/>
          <a:ext xmlns:a="http://schemas.openxmlformats.org/drawingml/2006/main" cx="11404664" cy="3810000"/>
        </p:xfrm>
        <a:graphic xmlns:a="http://schemas.openxmlformats.org/drawingml/2006/main">
          <a:graphicData uri="http://schemas.openxmlformats.org/drawingml/2006/table">
            <a:tbl>
              <a:tblPr firstRow="0" bandRow="1"/>
              <a:tblGrid>
                <a:gridCol w="2095500"/>
                <a:gridCol w="4572000"/>
                <a:gridCol w="4737164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用途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766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取数据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提交数据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参数在哪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766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URL 后面  ?key=value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请求体 body（JSON）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典型例子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766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查天气、看榜单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发消息给 AI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一句话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766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问服务器要东西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给服务器送东西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66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64754-E6C8-4DC0-AB04-7CEC1DE7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状态码：响应的「情绪」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81FFF-B1F0-4A13-840F-9B75C503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393668" y="1809750"/>
          <a:ext xmlns:a="http://schemas.openxmlformats.org/drawingml/2006/main" cx="11404664" cy="4000500"/>
        </p:xfrm>
        <a:graphic xmlns:a="http://schemas.openxmlformats.org/drawingml/2006/main">
          <a:graphicData uri="http://schemas.openxmlformats.org/drawingml/2006/table">
            <a:tbl>
              <a:tblPr firstRow="0" bandRow="1"/>
              <a:tblGrid>
                <a:gridCol w="2286000"/>
                <a:gridCol w="3048000"/>
                <a:gridCol w="6070664"/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状态码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遇到就说明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一切正常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未授权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API Key 没带对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404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找不到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URL 拼错了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429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请求太多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被限流，要等一等再试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服务器出错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不是你的错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29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C0A8A-8BB8-4F26-A3BF-3FF2962E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代码：状态码怎么处理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7A1F3-3EC3-45C7-B9E6-DC2F20CF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57EE6-E9D5-46E0-9723-7BE30CD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1404568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3F5E0-37B1-49F1-A23A-7063920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1828800"/>
            <a:ext cx="10871168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response = requests.get(url)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if response.status_code == 200: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data = response.json()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print(data)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elif response.status_code == 401: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print("⚠️ Key 不对，去检查环境变量")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elif response.status_code == 429: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print("⚠️ 请求太频繁，等一会再试")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else: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print(f"出错：{response.status_code}")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59EA1-63A6-4C27-836E-14F2DD11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34000"/>
            <a:ext cx="1140456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程序不只会「成功」，还要会「优雅地失败」——这是工程素养，面试加分</a:t>
            </a:r>
          </a:p>
        </p:txBody>
      </p:sp>
    </p:spTree>
    <p:extLst>
      <p:ext uri="{BB962C8B-B14F-4D97-AF65-F5344CB8AC3E}">
        <p14:creationId xmlns:p14="http://schemas.microsoft.com/office/powerpoint/2010/main" val="682547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6A920-15B9-41E2-A89A-AA4448E4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JSON：服务器和你的通用语言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8B514-369C-4482-99E9-02E4BC8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82823-E098-4AFA-9529-C3C2A60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5334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一种文本格式，长得和 Python 的 dict / list 一样</a:t>
            </a:r>
          </a:p>
          <a:p xmlns:a="http://schemas.openxmlformats.org/drawingml/2006/main">
            <a:pPr algn="l">
              <a:spcAft>
                <a:spcPts val="8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服务器返回的永远是字符串</a:t>
            </a:r>
          </a:p>
          <a:p xmlns:a="http://schemas.openxmlformats.org/drawingml/2006/main">
            <a:pPr algn="l">
              <a:spcAft>
                <a:spcPts val="20"/>
              </a:spcAft>
              <a:defRPr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 → response.json() 转成 Python 对象</a:t>
            </a:r>
          </a:p>
          <a:p xmlns:a="http://schemas.openxmlformats.org/drawingml/2006/main">
            <a:pPr algn="l">
              <a:spcAft>
                <a:spcPts val="8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发送时 json= 自动帮你序列化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 → dict 变成 JSON 字符串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D68E0-57CC-4E2C-BD98-9C96EB87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524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0C584-8A59-4B4B-981A-2A209AE1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9911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# 发：dict → JSON 字符串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requests.post(url,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json={"name": "张三"})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# 收：JSON 字符串 → dict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data = response.json()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print(data["name"])   # 张三</a:t>
            </a:r>
          </a:p>
        </p:txBody>
      </p:sp>
    </p:spTree>
    <p:extLst>
      <p:ext uri="{BB962C8B-B14F-4D97-AF65-F5344CB8AC3E}">
        <p14:creationId xmlns:p14="http://schemas.microsoft.com/office/powerpoint/2010/main" val="1982178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9BAD3-3DE4-40A4-9D47-90CD6FFC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1404568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7BAC9-1646-46D2-9DEB-B560A515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TRANSITION · 复习你的代码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F1B7C-277F-4C96-B109-32FBCC70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其实你已经做过两次了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5009D-B3AF-4B2A-AFDB-4CEF7990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B7A"/>
                </a:solidFill>
              </a:defRPr>
            </a:pPr>
            <a:r>
              <a:rPr sz="1650">
                <a:solidFill>
                  <a:srgbClr val="5F6B7A"/>
                </a:solidFill>
              </a:rPr>
              <a:t>你爬 Tiobe 是 GET，你调 DeepSeek 是 POST——它们底层都是一回事。SDK 只是帮你把细节藏起来了。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82E1-4583-451B-A103-BEC3A6ED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B7A"/>
                </a:solidFill>
              </a:defRPr>
            </a:pPr>
            <a:r>
              <a:rPr sz="975">
                <a:solidFill>
                  <a:srgbClr val="5F6B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211037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F83E3-C09C-4877-8F5B-EFFC9450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你写过的两段代码，背后是同一件事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A7B0C-1289-473F-8643-9EB87CC3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3F9CE-7638-4EC6-9524-6734B899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0"/>
            <a:ext cx="5524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25F5D-2C4C-4166-8E39-5670FC62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defRPr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爬虫  =  GET（取数据）</a:t>
            </a:r>
          </a:p>
          <a:p xmlns:a="http://schemas.openxmlformats.org/drawingml/2006/main">
            <a:pPr algn="l">
              <a:spcAft>
                <a:spcPts val="18"/>
              </a:spcAft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requests.get(url)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向网站要一份榜单数据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4F3D4-01C9-4B0A-9D25-6C166EE5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05000"/>
            <a:ext cx="5524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C21DB-3B38-42A3-9DD6-9AA9CF33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8"/>
              </a:spcAft>
              <a:defRPr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 伴侣  =  POST（提交数据）</a:t>
            </a:r>
          </a:p>
          <a:p xmlns:a="http://schemas.openxmlformats.org/drawingml/2006/main">
            <a:pPr algn="l">
              <a:spcAft>
                <a:spcPts val="4"/>
              </a:spcAft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client.chat.completions</a:t>
            </a:r>
          </a:p>
          <a:p xmlns:a="http://schemas.openxmlformats.org/drawingml/2006/main">
            <a:pPr algn="l">
              <a:spcAft>
                <a:spcPts val="18"/>
              </a:spcAft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.create(...)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向 DeepSeek 提交问题，拿回答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DDA22-1646-4FC2-9E89-6CA55557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0"/>
            <a:ext cx="11404568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27644-F20B-4389-AAE8-F51A704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SDK 只是 requests 的高级封装——作业让你亲手拆开</a:t>
            </a:r>
          </a:p>
        </p:txBody>
      </p:sp>
    </p:spTree>
    <p:extLst>
      <p:ext uri="{BB962C8B-B14F-4D97-AF65-F5344CB8AC3E}">
        <p14:creationId xmlns:p14="http://schemas.microsoft.com/office/powerpoint/2010/main" val="1792461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333F1-2681-4223-AAB8-93E50B0E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1404568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EE36C-D720-4802-A8DD-6A0CF61F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HANDS-ON · 动手时间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03839-280E-4A23-A888-8348D6F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在你自己电脑上跑起来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F9EB1-3703-4286-95F9-D6630CD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B7A"/>
                </a:solidFill>
              </a:defRPr>
            </a:pPr>
            <a:r>
              <a:rPr sz="1650">
                <a:solidFill>
                  <a:srgbClr val="5F6B7A"/>
                </a:solidFill>
              </a:rPr>
              <a:t>练习服务器在你电脑上，请求发过去原样返回，方便你看清自己发了什么。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96F08-5554-4B77-B5A0-F921BB7C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B7A"/>
                </a:solidFill>
              </a:defRPr>
            </a:pPr>
            <a:r>
              <a:rPr sz="975">
                <a:solidFill>
                  <a:srgbClr val="5F6B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9325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D1129-9037-4A73-8D44-12129C2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动手：先跑一个练习服务器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C3C55-90DA-4E0F-AC39-9D58E4C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0CB5F-617A-42A0-B16E-8C43541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524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5B6D3-F2F0-4633-8FBE-8578DA6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9911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# 终端 1：启动练习服务器（保持开着）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cd D:\agent-learning\lesson-02-http-api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python server.py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# 终端 2：运行演示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python 01_http_basics_demo.py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A35D2-87F6-4383-A2F4-C4876A4A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2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服务器就在你自己电脑上（FastAPI）</a:t>
            </a:r>
          </a:p>
          <a:p xmlns:a="http://schemas.openxmlformats.org/drawingml/2006/main">
            <a:pPr algn="l">
              <a:spcAft>
                <a:spcPts val="2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请求发过去，它把内容原样返回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这样你能看清自己到底发了什么</a:t>
            </a:r>
          </a:p>
        </p:txBody>
      </p:sp>
    </p:spTree>
    <p:extLst>
      <p:ext uri="{BB962C8B-B14F-4D97-AF65-F5344CB8AC3E}">
        <p14:creationId xmlns:p14="http://schemas.microsoft.com/office/powerpoint/2010/main" val="13320489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402A4-933F-49A3-BA54-B3A60CB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代码：完整 GET 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F16DC-D570-4583-9948-68798395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471A4-800F-47CF-B459-039919F5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1404568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58CA0-187A-4D3D-BAFF-1BBC2CC3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1828800"/>
            <a:ext cx="10871168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import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response = requests.get(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"http://127.0.0.1:8000/echo",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params={"city": "深圳", "q": "天气"},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print(response.status_code)   # 200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print(response.json())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# {'method': 'GET', 'params': {'city': '深圳', 'q': '天气'}}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0FA10-E27F-4216-BC03-3A8CB4D2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292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参数跟在 URL 后面  ?key=value</a:t>
            </a:r>
          </a:p>
          <a:p xmlns:a="http://schemas.openxmlformats.org/drawingml/2006/main">
            <a:pPr algn="l">
              <a:spcAft>
                <a:spcPts val="16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 个口诀：发请求 → 看状态码 → 看响应头 → response.json()</a:t>
            </a:r>
          </a:p>
        </p:txBody>
      </p:sp>
    </p:spTree>
    <p:extLst>
      <p:ext uri="{BB962C8B-B14F-4D97-AF65-F5344CB8AC3E}">
        <p14:creationId xmlns:p14="http://schemas.microsoft.com/office/powerpoint/2010/main" val="19818546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BC1CA-1678-4EE6-9300-CC94F7B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代码：完整 POST 例子（调 AI 的方式）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7DBD-2EBF-4C8D-A32F-F615F101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6D5E0-CDC0-4524-BC08-8E50971A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19250"/>
            <a:ext cx="11404568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FA37-0622-41C3-BC82-ED4A81FD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1828800"/>
            <a:ext cx="10871168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response = requests.post(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"http://127.0.0.1:8000/echo",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json={"model": "deepseek-v4-pro",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      "messages": [{"role": "user",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                          "content": "你好"}]},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print(response.json())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# {'method': 'POST', 'received_json': {...}}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A9057-5B61-4A4E-B361-A6BC5662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4292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json= 自动帮你做「dict → JSON 字符串」</a:t>
            </a:r>
          </a:p>
          <a:p xmlns:a="http://schemas.openxmlformats.org/drawingml/2006/main">
            <a:pPr algn="l">
              <a:spcAft>
                <a:spcPts val="16"/>
              </a:spcAft>
              <a:defRPr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这个结构 = 调 DeepSeek 的真实请求体</a:t>
            </a:r>
          </a:p>
        </p:txBody>
      </p:sp>
    </p:spTree>
    <p:extLst>
      <p:ext uri="{BB962C8B-B14F-4D97-AF65-F5344CB8AC3E}">
        <p14:creationId xmlns:p14="http://schemas.microsoft.com/office/powerpoint/2010/main" val="21160587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C1D6E-D3C0-44BB-8052-6EA4F72E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面试考点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7AD97-55D2-4AC0-857A-41DAC76A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18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393668" y="1809750"/>
          <a:ext xmlns:a="http://schemas.openxmlformats.org/drawingml/2006/main" cx="11404664" cy="3810000"/>
        </p:xfrm>
        <a:graphic xmlns:a="http://schemas.openxmlformats.org/drawingml/2006/main">
          <a:graphicData uri="http://schemas.openxmlformats.org/drawingml/2006/table">
            <a:tbl>
              <a:tblPr firstRow="0" bandRow="1"/>
              <a:tblGrid>
                <a:gridCol w="4191000"/>
                <a:gridCol w="7213664"/>
              </a:tblGrid>
              <a:tr h="952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面试官问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怎么答（一句话版）</a:t>
                      </a:r>
                    </a:p>
                  </a:txBody>
                  <a:tcPr marL="91440" marR="91440" marT="45720" marB="45720">
                    <a:solidFill>
                      <a:srgbClr val="E8EBE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调 API 返回 429 怎么办？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被限流 → 等待重试（退避）→ 还失败就降级提示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SDK 和 requests 什么关系？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SDK 是封装，底层还是 HTTP 请求</a:t>
                      </a:r>
                    </a:p>
                  </a:txBody>
                  <a:tcPr marL="91440" marR="91440" marT="45720" marB="4572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GET 和 POST 区别？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GET 取数据参数在 URL，POST 提交数据参数在 body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7AEA4-5244-463B-B746-F850FCCE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05500"/>
            <a:ext cx="1140456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这三个问题，作业做完你就能答上来</a:t>
            </a:r>
          </a:p>
        </p:txBody>
      </p:sp>
    </p:spTree>
    <p:extLst>
      <p:ext uri="{BB962C8B-B14F-4D97-AF65-F5344CB8AC3E}">
        <p14:creationId xmlns:p14="http://schemas.microsoft.com/office/powerpoint/2010/main" val="5378737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88DD-C27B-4C9F-B540-6DEFE4F1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1404568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49330-CEBF-4B37-83AE-8F292AB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RECAP · 一句话总结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70680-869B-4F73-9E54-8344EBD6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请求 = 信封，响应 = 回信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13F7B-7A1F-4854-9CB9-AFE24434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F6B7A"/>
                </a:solidFill>
              </a:defRPr>
            </a:pPr>
            <a:r>
              <a:rPr sz="1650">
                <a:solidFill>
                  <a:srgbClr val="5F6B7A"/>
                </a:solidFill>
              </a:rPr>
              <a:t>URL 地址、方法干什么、请求头身份、请求体内容。GET 取数据，POST 提交。JSON 是双方通用语言。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381D6-0991-4F1A-A081-A46184B4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F6B7A"/>
                </a:solidFill>
              </a:defRPr>
            </a:pPr>
            <a:r>
              <a:rPr sz="975">
                <a:solidFill>
                  <a:srgbClr val="5F6B7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853568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6FDCB-1978-4204-8580-212E184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作业：3 件事（做完发我检查）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C9C78-B27C-42FC-8E0C-A5ECAFB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362CF-1718-4334-9B2C-98D61468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1140456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ECE9A-DB07-4AF4-B123-499E92DD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5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C2168-7EEB-4347-9768-FC33E909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942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跑 server.py + 01_http_basics_demo.py，看懂每一行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1736B-CE88-4EA1-AFED-D8965A0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1140456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5B59E-5352-48DC-BAAB-20977E1A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5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C07D7-08E4-4FAB-99C2-BFBAD81F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942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完成 homework_01.py：用 requests 裸调 DeepSeek（不用 SDK）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DEAD9-BBA2-41FD-8861-A42C5F8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76750"/>
            <a:ext cx="11404568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82489-BCA7-4EC6-93F1-E72F36D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85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6F972-8BD2-4503-B691-82E3E06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942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用一句话回答：为什么 SDK 的 create() 底层其实是一次 POST？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C849A-C705-472E-AA3D-AD45EA2C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05500"/>
            <a:ext cx="11404568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F1FBD-60CF-4B7D-A459-7EAF57D4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F6B7A"/>
                </a:solidFill>
              </a:defRPr>
            </a:pPr>
            <a:r>
              <a:rPr sz="1350">
                <a:solidFill>
                  <a:srgbClr val="5F6B7A"/>
                </a:solidFill>
              </a:rPr>
              <a:t>提示：接口地址、请求头、请求体格式都在 README.md 里</a:t>
            </a:r>
          </a:p>
        </p:txBody>
      </p:sp>
    </p:spTree>
    <p:extLst>
      <p:ext uri="{BB962C8B-B14F-4D97-AF65-F5344CB8AC3E}">
        <p14:creationId xmlns:p14="http://schemas.microsoft.com/office/powerpoint/2010/main" val="17513652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8CCE-E3D1-4866-A238-DD839BF0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11404568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下一课：async / await 异步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CBB98-9E80-40E2-943E-6325175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AA3B2"/>
                </a:solidFill>
              </a:defRPr>
            </a:pPr>
            <a:r>
              <a:rPr sz="975">
                <a:solidFill>
                  <a:srgbClr val="9AA3B2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1030F-A2BD-45BC-9F18-8C22BCAF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11404568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3DDD-8B96-41F8-BF9D-3037E22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spcAft>
                <a:spcPts val="14"/>
              </a:spcAft>
              <a:defRPr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你学会了「怎么调一次 API」</a:t>
            </a:r>
          </a:p>
          <a:p xmlns:a="http://schemas.openxmlformats.org/drawingml/2006/main">
            <a:pPr algn="l">
              <a:spcAft>
                <a:spcPts val="14"/>
              </a:spcAft>
              <a:defRPr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下一课学「怎么同时调很多次」</a:t>
            </a:r>
          </a:p>
          <a:p xmlns:a="http://schemas.openxmlformats.org/drawingml/2006/main">
            <a:pPr algn="l">
              <a:spcAft>
                <a:spcPts val="26"/>
              </a:spcAft>
              <a:defRPr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   Agent 一次任务要调好几次 AI + 好几个工具</a:t>
            </a:r>
          </a:p>
          <a:p xmlns:a="http://schemas.openxmlformats.org/drawingml/2006/main">
            <a:pPr algn="l">
              <a:defRPr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排队 vs 并发，速度差好几倍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A32F0-9D1A-4B0C-B52B-ADEE1E93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0"/>
            <a:ext cx="11404568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9525">
            <a:solidFill>
              <a:srgbClr val="DCE0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E6B42-60C9-4358-97CF-FA28431B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记得先交第二课作业 ✅</a:t>
            </a:r>
          </a:p>
        </p:txBody>
      </p:sp>
    </p:spTree>
    <p:extLst>
      <p:ext uri="{BB962C8B-B14F-4D97-AF65-F5344CB8AC3E}">
        <p14:creationId xmlns:p14="http://schemas.microsoft.com/office/powerpoint/2010/main" val="2022902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2026-09-01T15:03:47.3640000Z</dcterms:created>
  <dcterms:modified xsi:type="dcterms:W3CDTF">2026-09-01T15:03:47.3640000Z</dcterms:modified>
</coreProperties>
</file>